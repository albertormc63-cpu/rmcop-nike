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def4bcd5144388" /><Relationship Type="http://schemas.openxmlformats.org/officeDocument/2006/relationships/extended-properties" Target="/docProps/app.xml" Id="R96b1111e7cef4934" /><Relationship Type="http://schemas.openxmlformats.org/officeDocument/2006/relationships/officeDocument" Target="/ppt/presentation.xml" Id="Rd56bc2be318340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19e797006043cb"/>
  </p:sldMasterIdLst>
  <p:notesMasterIdLst>
    <p:notesMasterId xmlns:r="http://schemas.openxmlformats.org/officeDocument/2006/relationships" r:id="R86bb1d170d2a4748"/>
  </p:notesMasterIdLst>
  <p:sldIdLst>
    <p:sldId xmlns:r="http://schemas.openxmlformats.org/officeDocument/2006/relationships" id="256" r:id="R23a85cf022844db7"/>
    <p:sldId xmlns:r="http://schemas.openxmlformats.org/officeDocument/2006/relationships" id="257" r:id="R6394c6e6f51c4d9e"/>
    <p:sldId xmlns:r="http://schemas.openxmlformats.org/officeDocument/2006/relationships" id="258" r:id="R4d2df75b73e545f1"/>
    <p:sldId xmlns:r="http://schemas.openxmlformats.org/officeDocument/2006/relationships" id="259" r:id="Rfa789e97f61d4c2c"/>
    <p:sldId xmlns:r="http://schemas.openxmlformats.org/officeDocument/2006/relationships" id="260" r:id="R9fd3848675354c0e"/>
    <p:sldId xmlns:r="http://schemas.openxmlformats.org/officeDocument/2006/relationships" id="261" r:id="R99abd3ffcf264215"/>
    <p:sldId xmlns:r="http://schemas.openxmlformats.org/officeDocument/2006/relationships" id="262" r:id="Rb2b17f6105794a78"/>
    <p:sldId xmlns:r="http://schemas.openxmlformats.org/officeDocument/2006/relationships" id="263" r:id="R95876161c5f945af"/>
    <p:sldId xmlns:r="http://schemas.openxmlformats.org/officeDocument/2006/relationships" id="264" r:id="R8d1e5c1ff26e4b32"/>
    <p:sldId xmlns:r="http://schemas.openxmlformats.org/officeDocument/2006/relationships" id="265" r:id="R45c61424d5e746a0"/>
    <p:sldId xmlns:r="http://schemas.openxmlformats.org/officeDocument/2006/relationships" id="266" r:id="Re89612868a3443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590a9b2e2b440e" /><Relationship Type="http://schemas.openxmlformats.org/officeDocument/2006/relationships/slideMaster" Target="/ppt/slideMasters/slideMaster1.xml" Id="R7d19e797006043cb" /><Relationship Type="http://schemas.openxmlformats.org/officeDocument/2006/relationships/notesMaster" Target="/ppt/notesMasters/notesMaster1.xml" Id="R86bb1d170d2a4748" /><Relationship Type="http://schemas.openxmlformats.org/officeDocument/2006/relationships/presProps" Target="/ppt/presProps.xml" Id="Redce1110619a4202" /><Relationship Type="http://schemas.openxmlformats.org/officeDocument/2006/relationships/tableStyles" Target="/ppt/tableStyles.xml" Id="R86dbfedda7b34dde" /><Relationship Type="http://schemas.openxmlformats.org/officeDocument/2006/relationships/slide" Target="/ppt/slides/slide1.xml" Id="R23a85cf022844db7" /><Relationship Type="http://schemas.openxmlformats.org/officeDocument/2006/relationships/slide" Target="/ppt/slides/slide2.xml" Id="R6394c6e6f51c4d9e" /><Relationship Type="http://schemas.openxmlformats.org/officeDocument/2006/relationships/slide" Target="/ppt/slides/slide3.xml" Id="R4d2df75b73e545f1" /><Relationship Type="http://schemas.openxmlformats.org/officeDocument/2006/relationships/slide" Target="/ppt/slides/slide4.xml" Id="Rfa789e97f61d4c2c" /><Relationship Type="http://schemas.openxmlformats.org/officeDocument/2006/relationships/slide" Target="/ppt/slides/slide5.xml" Id="R9fd3848675354c0e" /><Relationship Type="http://schemas.openxmlformats.org/officeDocument/2006/relationships/slide" Target="/ppt/slides/slide6.xml" Id="R99abd3ffcf264215" /><Relationship Type="http://schemas.openxmlformats.org/officeDocument/2006/relationships/slide" Target="/ppt/slides/slide7.xml" Id="Rb2b17f6105794a78" /><Relationship Type="http://schemas.openxmlformats.org/officeDocument/2006/relationships/slide" Target="/ppt/slides/slide8.xml" Id="R95876161c5f945af" /><Relationship Type="http://schemas.openxmlformats.org/officeDocument/2006/relationships/slide" Target="/ppt/slides/slide9.xml" Id="R8d1e5c1ff26e4b32" /><Relationship Type="http://schemas.openxmlformats.org/officeDocument/2006/relationships/slide" Target="/ppt/slides/slide10.xml" Id="R45c61424d5e746a0" /><Relationship Type="http://schemas.openxmlformats.org/officeDocument/2006/relationships/slide" Target="/ppt/slides/slide11.xml" Id="Re89612868a3443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e98aad47b741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1b87dac2884768" /><Relationship Type="http://schemas.openxmlformats.org/officeDocument/2006/relationships/notesMaster" Target="/ppt/notesMasters/notesMaster1.xml" Id="R16b76b23107146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98ffece4f24bf9" /><Relationship Type="http://schemas.openxmlformats.org/officeDocument/2006/relationships/notesMaster" Target="/ppt/notesMasters/notesMaster1.xml" Id="Rf7e4dfc67ba342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cf006af88b4148" /><Relationship Type="http://schemas.openxmlformats.org/officeDocument/2006/relationships/notesMaster" Target="/ppt/notesMasters/notesMaster1.xml" Id="R673201bd01c944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235f3f278f4992" /><Relationship Type="http://schemas.openxmlformats.org/officeDocument/2006/relationships/notesMaster" Target="/ppt/notesMasters/notesMaster1.xml" Id="R89931fa1aa4f4b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decb94791d476a" /><Relationship Type="http://schemas.openxmlformats.org/officeDocument/2006/relationships/notesMaster" Target="/ppt/notesMasters/notesMaster1.xml" Id="R1c9105d648cb46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e26d3daf194f7d" /><Relationship Type="http://schemas.openxmlformats.org/officeDocument/2006/relationships/notesMaster" Target="/ppt/notesMasters/notesMaster1.xml" Id="R1122333b62a343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3a7a43b72b4656" /><Relationship Type="http://schemas.openxmlformats.org/officeDocument/2006/relationships/notesMaster" Target="/ppt/notesMasters/notesMaster1.xml" Id="Ra4d8c379db0d4c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f96c222a474323" /><Relationship Type="http://schemas.openxmlformats.org/officeDocument/2006/relationships/notesMaster" Target="/ppt/notesMasters/notesMaster1.xml" Id="Re26b6513d2da43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7c0e2ad5664d34" /><Relationship Type="http://schemas.openxmlformats.org/officeDocument/2006/relationships/notesMaster" Target="/ppt/notesMasters/notesMaster1.xml" Id="Rdb89bc49324949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07f25fef334198" /><Relationship Type="http://schemas.openxmlformats.org/officeDocument/2006/relationships/notesMaster" Target="/ppt/notesMasters/notesMaster1.xml" Id="R0fb9b35a31af48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19f305bcde408c" /><Relationship Type="http://schemas.openxmlformats.org/officeDocument/2006/relationships/notesMaster" Target="/ppt/notesMasters/notesMaster1.xml" Id="Rfd31de26945a47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el cambio operativo: RMCOp-Nike no reemplaza Lansa; automatiza la preparacion interna de archivos Nike On Demand dentro de Illustrator.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Enfatizar que el dolor no es solo velocidad: tambien es control, repetibilidad y evidencia despues de producir.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Subrayar que la validacion no crea archivos. El proceso vuelve a validar al momento de producir para evitar duplicados o estados viejos.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SQLite no es una hoja manual: es la fuente local de trazabilidad. Los logs CSV/JSONL quedan como respaldo, no como control principal.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salto de tiempo proviene del manual del repo. Presentarlo como beneficio operativo cuando el insumo esta completo, no como promesa aislada.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un punto de decision: validar el flujo real en Illustrator y luego priorizar trazabilidad/concurrencia antes de escalar a mas operadores.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fbeff949a48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663913a92b438b" /><Relationship Type="http://schemas.openxmlformats.org/officeDocument/2006/relationships/slideLayout" Target="/ppt/slideLayouts/slideLayout1.xml" Id="R1aadfc46baef41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adfc46baef41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95ca92c33453e" /><Relationship Type="http://schemas.openxmlformats.org/officeDocument/2006/relationships/image" Target="/ppt/media/image.png" Id="Re9efab0e39084788" /><Relationship Type="http://schemas.openxmlformats.org/officeDocument/2006/relationships/notesSlide" Target="/ppt/notesSlides/notesSlide1.xml" Id="R55913f96fb3548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b0cbe9db94612" /><Relationship Type="http://schemas.openxmlformats.org/officeDocument/2006/relationships/notesSlide" Target="/ppt/notesSlides/notesSlide2.xml" Id="Rb8c0b07bebcb40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d419984d54e23" /><Relationship Type="http://schemas.openxmlformats.org/officeDocument/2006/relationships/notesSlide" Target="/ppt/notesSlides/notesSlide3.xml" Id="R483f235e62784c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5316a83954fcf" /><Relationship Type="http://schemas.openxmlformats.org/officeDocument/2006/relationships/notesSlide" Target="/ppt/notesSlides/notesSlide4.xml" Id="R79a1b14a714542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d4a321ab64117" /><Relationship Type="http://schemas.openxmlformats.org/officeDocument/2006/relationships/notesSlide" Target="/ppt/notesSlides/notesSlide5.xml" Id="Rb8050a525ad84f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8c4b5b9904318" /><Relationship Type="http://schemas.openxmlformats.org/officeDocument/2006/relationships/notesSlide" Target="/ppt/notesSlides/notesSlide6.xml" Id="R5ff8d30768774f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38ddbb5fb44c5" /><Relationship Type="http://schemas.openxmlformats.org/officeDocument/2006/relationships/notesSlide" Target="/ppt/notesSlides/notesSlide7.xml" Id="R247c74ee9bfa43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14b501fc849d7" /><Relationship Type="http://schemas.openxmlformats.org/officeDocument/2006/relationships/notesSlide" Target="/ppt/notesSlides/notesSlide8.xml" Id="R866ad4ec571242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50a93aae74495" /><Relationship Type="http://schemas.openxmlformats.org/officeDocument/2006/relationships/notesSlide" Target="/ppt/notesSlides/notesSlide9.xml" Id="R1ce205ba2a494b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6c825337943f7" /><Relationship Type="http://schemas.openxmlformats.org/officeDocument/2006/relationships/notesSlide" Target="/ppt/notesSlides/notesSlide10.xml" Id="R02cf5b3439fc4c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dd67eded9423f" /><Relationship Type="http://schemas.openxmlformats.org/officeDocument/2006/relationships/image" Target="/ppt/media/image2.png" Id="Rffebda11f3044439" /><Relationship Type="http://schemas.openxmlformats.org/officeDocument/2006/relationships/notesSlide" Target="/ppt/notesSlides/notesSlide11.xml" Id="Rf8bc347aaba443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17EDA0-3100-4C3F-86B5-3341C9C0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0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70495-E054-462F-B54D-799793AA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fab0e39084788"/>
          <a:stretch xmlns:a="http://schemas.openxmlformats.org/drawingml/2006/main"/>
        </p:blipFill>
        <p:spPr>
          <a:xfrm xmlns:a="http://schemas.openxmlformats.org/drawingml/2006/main">
            <a:off x="7685130" y="533400"/>
            <a:ext cx="3089189" cy="114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154F7-3AE5-4EBE-A9F2-2A056581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42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EB4BF"/>
                </a:solidFill>
              </a:defRPr>
            </a:pPr>
            <a:r>
              <a:rPr sz="1500" b="1" i="0">
                <a:solidFill>
                  <a:srgbClr val="AEB4BF"/>
                </a:solidFill>
              </a:rPr>
              <a:t>RMC Control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98F69-0114-4145-9E9F-C637CD66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2F2EF"/>
                </a:solidFill>
              </a:defRPr>
            </a:pPr>
            <a:r>
              <a:rPr sz="4650" b="1" i="0">
                <a:solidFill>
                  <a:srgbClr val="F2F2EF"/>
                </a:solidFill>
              </a:rPr>
              <a:t>RMCOp-Nike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4F9D7-12D6-46DE-ACF6-05682EC2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AEB4BF"/>
                </a:solidFill>
              </a:defRPr>
            </a:pPr>
            <a:r>
              <a:rPr sz="1875" b="0" i="0">
                <a:solidFill>
                  <a:srgbClr val="AEB4BF"/>
                </a:solidFill>
              </a:rPr>
              <a:t>Generacion controlada de archivos de produccion Nike desde Rosters y Lansa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9EDD8-A8E0-42FA-9762-D81410E9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F35"/>
          </a:solidFill>
          <a:ln xmlns:a="http://schemas.openxmlformats.org/drawingml/2006/main" w="9525">
            <a:solidFill>
              <a:srgbClr val="B91F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9DA3B-0B6A-4F32-A862-9D163CF9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4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Presentacion ejecutiva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D5B3E-6C94-4F09-8246-0E7A1AD5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F8794"/>
                </a:solidFill>
              </a:defRPr>
            </a:pPr>
            <a:r>
              <a:rPr sz="1350" b="0" i="0">
                <a:solidFill>
                  <a:srgbClr val="7F8794"/>
                </a:solidFill>
              </a:rPr>
              <a:t>Julio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B85F1-85F5-4837-A1DB-7940C2EA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BCD67-B85A-475E-9D7B-3AB4056B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0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EB4BF"/>
                </a:solidFill>
              </a:defRPr>
            </a:pPr>
            <a:r>
              <a:rPr sz="1275" b="0" i="0">
                <a:solidFill>
                  <a:srgbClr val="AEB4BF"/>
                </a:solidFill>
              </a:rPr>
              <a:t>de trabajo manual largo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B4D30-166C-443C-BB03-AFB69724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719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2C94C"/>
                </a:solidFill>
              </a:defRPr>
            </a:pPr>
            <a:r>
              <a:rPr sz="3150" b="1" i="0">
                <a:solidFill>
                  <a:srgbClr val="F2C94C"/>
                </a:solidFill>
              </a:rPr>
              <a:t>a minutos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E9ECA-F4F2-41DA-AD31-1F1A219C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62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F8794"/>
                </a:solidFill>
              </a:defRPr>
            </a:pPr>
            <a:r>
              <a:rPr sz="975" b="0" i="0">
                <a:solidFill>
                  <a:srgbClr val="7F8794"/>
                </a:solidFill>
              </a:rPr>
              <a:t>cuando datos y plantillas estan listos</a:t>
            </a:r>
          </a:p>
        </p:txBody>
      </p:sp>
    </p:spTree>
    <p:extLst>
      <p:ext uri="{BB962C8B-B14F-4D97-AF65-F5344CB8AC3E}">
        <p14:creationId xmlns:p14="http://schemas.microsoft.com/office/powerpoint/2010/main" val="6407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F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B3D69C-4AE5-4055-AE45-31A6BBF1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EB4BF"/>
                </a:solidFill>
              </a:defRPr>
            </a:pPr>
            <a:r>
              <a:rPr sz="975" b="1" i="0">
                <a:solidFill>
                  <a:srgbClr val="AEB4BF"/>
                </a:solidFill>
              </a:rPr>
              <a:t>PROBLEMA ACTUAL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828B7-F4BD-4139-86AA-CD1CB1A5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F2EF"/>
                </a:solidFill>
              </a:defRPr>
            </a:pPr>
            <a:r>
              <a:rPr sz="2850" b="1" i="0">
                <a:solidFill>
                  <a:srgbClr val="F2F2EF"/>
                </a:solidFill>
              </a:rPr>
              <a:t>La preparacion manual consume tiempo y abre espacio a errores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9FE90-8AD7-4960-BAFC-2D597B68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El operador cruza datos, plantillas, nombres y rutas antes de liberar produccion.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8D2F8-833F-4A64-839C-47ABE909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84008-1BF4-4763-9EC0-60C939E5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4426B-15F8-48B0-9691-8A42579A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04DCE-87FF-41E1-813B-68A69AFD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F2EF"/>
                </a:solidFill>
              </a:defRPr>
            </a:pPr>
            <a:r>
              <a:rPr sz="1725" b="1" i="0">
                <a:solidFill>
                  <a:srgbClr val="F2F2EF"/>
                </a:solidFill>
              </a:rPr>
              <a:t>Captura repetitiva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DD569-6DD0-454A-8B08-ABEADFCF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EB4BF"/>
                </a:solidFill>
              </a:defRPr>
            </a:pPr>
            <a:r>
              <a:rPr sz="1200" b="0" i="0">
                <a:solidFill>
                  <a:srgbClr val="AEB4BF"/>
                </a:solidFill>
              </a:rPr>
              <a:t>Nombres, numeros, tallas, styles y equipos se vuelven trabajo manual fila por fila.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AEF38-8620-4535-B8C4-42EF8F4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CE42F-DBDA-461B-95EF-8BD22960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769EF-9733-4ACB-8565-01445267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F2EF"/>
                </a:solidFill>
              </a:defRPr>
            </a:pPr>
            <a:r>
              <a:rPr sz="1725" b="1" i="0">
                <a:solidFill>
                  <a:srgbClr val="F2F2EF"/>
                </a:solidFill>
              </a:rPr>
              <a:t>Riesgo de duplicados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1B4C3-12C4-4545-8BAF-1FA9A439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EB4BF"/>
                </a:solidFill>
              </a:defRPr>
            </a:pPr>
            <a:r>
              <a:rPr sz="1200" b="0" i="0">
                <a:solidFill>
                  <a:srgbClr val="AEB4BF"/>
                </a:solidFill>
              </a:rPr>
              <a:t>Sin una clave estable, es dificil saber que ya se genero y que falta.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49316-5BBB-4591-88F4-8F73DD65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31E2C-8008-4CE7-8B19-C5D5E1FA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CF650-E88E-4780-B41C-860B7DB1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F2EF"/>
                </a:solidFill>
              </a:defRPr>
            </a:pPr>
            <a:r>
              <a:rPr sz="1725" b="1" i="0">
                <a:solidFill>
                  <a:srgbClr val="F2F2EF"/>
                </a:solidFill>
              </a:rPr>
              <a:t>Plantillas sensibles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9CAC8-630C-4215-8A7B-6C053607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EB4BF"/>
                </a:solidFill>
              </a:defRPr>
            </a:pPr>
            <a:r>
              <a:rPr sz="1200" b="0" i="0">
                <a:solidFill>
                  <a:srgbClr val="AEB4BF"/>
                </a:solidFill>
              </a:rPr>
              <a:t>Elegir style, variante y talla incorrecta afecta produccion y retrabajo.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9BA6A-F266-47FF-8E9A-B733282B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5285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69CB0-BBA4-408D-B36D-E7541C49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528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C12CD-CA8D-48B9-A71C-336C8D36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2F2EF"/>
                </a:solidFill>
              </a:defRPr>
            </a:pPr>
            <a:r>
              <a:rPr sz="1725" b="1" i="0">
                <a:solidFill>
                  <a:srgbClr val="F2F2EF"/>
                </a:solidFill>
              </a:rPr>
              <a:t>Poca trazabilidad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78970F-1328-4838-93A2-0A94A49C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EB4BF"/>
                </a:solidFill>
              </a:defRPr>
            </a:pPr>
            <a:r>
              <a:rPr sz="1200" b="0" i="0">
                <a:solidFill>
                  <a:srgbClr val="AEB4BF"/>
                </a:solidFill>
              </a:rPr>
              <a:t>La bitacora queda dispersa entre Excel, carpetas y memoria operativa.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3648-18AC-4A9C-B0B9-53E730B4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F8794"/>
                </a:solidFill>
              </a:defRPr>
            </a:pPr>
            <a:r>
              <a:rPr sz="900" b="0" i="0">
                <a:solidFill>
                  <a:srgbClr val="7F8794"/>
                </a:solidFill>
              </a:rPr>
              <a:t>RMC Control System | RMCOp-Nike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3B4843-01C8-4EE3-B906-A08A8D0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7F8794"/>
                </a:solidFill>
              </a:defRPr>
            </a:pPr>
            <a:r>
              <a:rPr sz="1125" b="1" i="0">
                <a:solidFill>
                  <a:srgbClr val="7F879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8958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F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9614D-154A-4907-9A9F-906DDE19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EB4BF"/>
                </a:solidFill>
              </a:defRPr>
            </a:pPr>
            <a:r>
              <a:rPr sz="975" b="1" i="0">
                <a:solidFill>
                  <a:srgbClr val="AEB4BF"/>
                </a:solidFill>
              </a:rPr>
              <a:t>PROCESO ANTERIOR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D6F20-D5F3-439E-B02F-E0903A52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F2EF"/>
                </a:solidFill>
              </a:defRPr>
            </a:pPr>
            <a:r>
              <a:rPr sz="2850" b="1" i="0">
                <a:solidFill>
                  <a:srgbClr val="F2F2EF"/>
                </a:solidFill>
              </a:rPr>
              <a:t>El flujo dependia de muchas decisiones manuales encadenadas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BFAE7-0834-47F7-B37C-3D5ACD00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Cada paso era pequeno; el problema era repetirlo muchas veces con datos cambiantes.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D2750-F3F9-49BF-9098-BB9AC7D3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6986C-5473-44A0-B934-8CB2E502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9B11B-AD70-4066-BC07-338D1A00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C94C"/>
                </a:solidFill>
              </a:defRPr>
            </a:pPr>
            <a:r>
              <a:rPr sz="2025" b="1" i="0">
                <a:solidFill>
                  <a:srgbClr val="F2C94C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00C4F-98CF-4E3A-8659-B61732F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EB4BF"/>
                </a:solidFill>
              </a:defRPr>
            </a:pPr>
            <a:r>
              <a:rPr sz="1200" b="0" i="0">
                <a:solidFill>
                  <a:srgbClr val="AEB4BF"/>
                </a:solidFill>
              </a:rPr>
              <a:t>Consultar Lansa / Roster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04398-3E83-4EAE-9C54-668F4562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86150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E7C02-44E6-4AA8-A7AB-773419A8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861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6CEF6-495D-497C-87A6-F9FA0BD8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575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C94C"/>
                </a:solidFill>
              </a:defRPr>
            </a:pPr>
            <a:r>
              <a:rPr sz="2025" b="1" i="0">
                <a:solidFill>
                  <a:srgbClr val="F2C94C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A2C1B-8086-4499-A938-71EEDC3D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38600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EB4BF"/>
                </a:solidFill>
              </a:defRPr>
            </a:pPr>
            <a:r>
              <a:rPr sz="1200" b="0" i="0">
                <a:solidFill>
                  <a:srgbClr val="AEB4BF"/>
                </a:solidFill>
              </a:rPr>
              <a:t>Buscar plantilla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9B4E7-DAE3-4E7E-B11B-B6A27941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2C617-F184-49E1-AEBB-3F5935CE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861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1B2CD-E641-4F55-A27E-DC072044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C94C"/>
                </a:solidFill>
              </a:defRPr>
            </a:pPr>
            <a:r>
              <a:rPr sz="2025" b="1" i="0">
                <a:solidFill>
                  <a:srgbClr val="F2C94C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CB990-C793-45CD-92C3-A4EDC2A7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38600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EB4BF"/>
                </a:solidFill>
              </a:defRPr>
            </a:pPr>
            <a:r>
              <a:rPr sz="1200" b="0" i="0">
                <a:solidFill>
                  <a:srgbClr val="AEB4BF"/>
                </a:solidFill>
              </a:rPr>
              <a:t>Capturar datos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C9A5D-07F6-4EEF-BB5F-D4F515DC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86150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3C2C2-2B78-493E-9FE7-49ABFB8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BF84E-73F3-46BD-A4A3-9E3544CC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575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C94C"/>
                </a:solidFill>
              </a:defRPr>
            </a:pPr>
            <a:r>
              <a:rPr sz="2025" b="1" i="0">
                <a:solidFill>
                  <a:srgbClr val="F2C94C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10894-4DD2-4F5D-8E4F-ABE95C94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38600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EB4BF"/>
                </a:solidFill>
              </a:defRPr>
            </a:pPr>
            <a:r>
              <a:rPr sz="1200" b="0" i="0">
                <a:solidFill>
                  <a:srgbClr val="AEB4BF"/>
                </a:solidFill>
              </a:rPr>
              <a:t>Abrir en Illustrator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A6C3E-CF90-4465-8E19-713A63F6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86150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7595C-8C1D-45D8-9A67-DB910673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98940-17D2-4166-87E7-6D402465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575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C94C"/>
                </a:solidFill>
              </a:defRPr>
            </a:pPr>
            <a:r>
              <a:rPr sz="2025" b="1" i="0">
                <a:solidFill>
                  <a:srgbClr val="F2C94C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01E5C-896A-42F7-B0AC-89D9056F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EB4BF"/>
                </a:solidFill>
              </a:defRPr>
            </a:pPr>
            <a:r>
              <a:rPr sz="1200" b="0" i="0">
                <a:solidFill>
                  <a:srgbClr val="AEB4BF"/>
                </a:solidFill>
              </a:rPr>
              <a:t>Aplicar nombre y numero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86EDB-2E86-4BFE-989E-DD5F2615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B8950-4C14-4B9C-8458-BF8A2FC1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D05154-DE2B-4153-B5A8-75A8900F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575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C94C"/>
                </a:solidFill>
              </a:defRPr>
            </a:pPr>
            <a:r>
              <a:rPr sz="2025" b="1" i="0">
                <a:solidFill>
                  <a:srgbClr val="F2C94C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57054D-FD2D-4681-85F8-AF2E997D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38600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EB4BF"/>
                </a:solidFill>
              </a:defRPr>
            </a:pPr>
            <a:r>
              <a:rPr sz="1200" b="0" i="0">
                <a:solidFill>
                  <a:srgbClr val="AEB4BF"/>
                </a:solidFill>
              </a:rPr>
              <a:t>Guardar PDF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D1977-430F-4E02-885C-6DC52CCD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86150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04DD1E-8925-4899-8C8F-9E5441F4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861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8CEB14-B5A5-45FB-9ADF-F1732351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575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C94C"/>
                </a:solidFill>
              </a:defRPr>
            </a:pPr>
            <a:r>
              <a:rPr sz="2025" b="1" i="0">
                <a:solidFill>
                  <a:srgbClr val="F2C94C"/>
                </a:solidFill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321B4F-073B-42CF-B1C6-5D6D035E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38600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EB4BF"/>
                </a:solidFill>
              </a:defRPr>
            </a:pPr>
            <a:r>
              <a:rPr sz="1200" b="0" i="0">
                <a:solidFill>
                  <a:srgbClr val="AEB4BF"/>
                </a:solidFill>
              </a:rPr>
              <a:t>Registrar resultado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7BC4BF-8CE7-4877-92E9-8A6A7CD9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05400"/>
            <a:ext cx="8191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F51F03-742E-411D-9C5E-BCEFB355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14950"/>
            <a:ext cx="739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F2EF"/>
                </a:solidFill>
              </a:defRPr>
            </a:pPr>
            <a:r>
              <a:rPr sz="1500" b="1" i="0">
                <a:solidFill>
                  <a:srgbClr val="F2F2EF"/>
                </a:solidFill>
              </a:rPr>
              <a:t>El tiempo se acumulaba porque el ciclo completo se repetia por talla, jugador, style y variante.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CE9560-A32A-4F63-9FEF-BE89AB7D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F8794"/>
                </a:solidFill>
              </a:defRPr>
            </a:pPr>
            <a:r>
              <a:rPr sz="900" b="0" i="0">
                <a:solidFill>
                  <a:srgbClr val="7F8794"/>
                </a:solidFill>
              </a:rPr>
              <a:t>RMC Control System | RMCOp-Nike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684ECB-FBF8-4800-9081-D7620609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7F8794"/>
                </a:solidFill>
              </a:defRPr>
            </a:pPr>
            <a:r>
              <a:rPr sz="1125" b="1" i="0">
                <a:solidFill>
                  <a:srgbClr val="7F879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3664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F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FAD36B-B071-43AE-840A-D00D8554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EB4BF"/>
                </a:solidFill>
              </a:defRPr>
            </a:pPr>
            <a:r>
              <a:rPr sz="975" b="1" i="0">
                <a:solidFill>
                  <a:srgbClr val="AEB4BF"/>
                </a:solidFill>
              </a:rPr>
              <a:t>SOLUCION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A1D35-2CA9-45EB-AB70-3CCB262E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F2EF"/>
                </a:solidFill>
              </a:defRPr>
            </a:pPr>
            <a:r>
              <a:rPr sz="2850" b="1" i="0">
                <a:solidFill>
                  <a:srgbClr val="F2F2EF"/>
                </a:solidFill>
              </a:rPr>
              <a:t>RMCOp-Nike convierte el Excel en produccion validada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6CF45-4F07-48C2-92CF-16C42968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La herramienta lee, normaliza, valida, genera solo lo faltante y registra lo que sucedio.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5FB16-CAB0-43E1-A973-5AC797FE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2953D-67B1-4C7E-B892-C663857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1D3C4-B639-48DB-8E96-520B7E6D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9525">
            <a:solidFill>
              <a:srgbClr val="B91F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2A999-EC91-451E-8CF3-0C2F9A57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F2EF"/>
                </a:solidFill>
              </a:defRPr>
            </a:pPr>
            <a:r>
              <a:rPr sz="1500" b="1" i="0">
                <a:solidFill>
                  <a:srgbClr val="F2F2EF"/>
                </a:solidFill>
              </a:rPr>
              <a:t>Excel / Roster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26E38-9996-4C1E-8063-7CD83C08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OD o roster detallado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ADF5E-B57E-4497-B26C-6E5B564F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DC17D-693C-46D0-A617-134DEDD0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622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24D3F-98AA-4E0A-BC44-B0CB2CF6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622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9525">
            <a:solidFill>
              <a:srgbClr val="B91F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5E4BA-740B-4814-B788-CACEFCA2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71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F2EF"/>
                </a:solidFill>
              </a:defRPr>
            </a:pPr>
            <a:r>
              <a:rPr sz="1500" b="1" i="0">
                <a:solidFill>
                  <a:srgbClr val="F2F2EF"/>
                </a:solidFill>
              </a:rPr>
              <a:t>Normalizacion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D574C-8C40-4D59-9107-6BED00A0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861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campos comunes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066A2-4D00-4D35-BC92-B0A6BC80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5755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9742E-2343-4DB7-B735-30576B1D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B1757-8C10-4503-925B-0DE20E6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FF749-B266-4F56-A6AA-B556C577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F2EF"/>
                </a:solidFill>
              </a:defRPr>
            </a:pPr>
            <a:r>
              <a:rPr sz="1500" b="1" i="0">
                <a:solidFill>
                  <a:srgbClr val="F2F2EF"/>
                </a:solidFill>
              </a:rPr>
              <a:t>Validacion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74941-792F-41FF-8FD6-DECC566F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861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archivos + SQLite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741C8-FAF3-41D6-BE25-E47A56A3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0B490-CA5A-4B1D-9D98-A7856555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622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3C992-D0B6-4AE8-92C8-F2282170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622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9525">
            <a:solidFill>
              <a:srgbClr val="B91F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692D5-8379-4C71-9A89-AA7A5DFA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71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F2EF"/>
                </a:solidFill>
              </a:defRPr>
            </a:pPr>
            <a:r>
              <a:rPr sz="1500" b="1" i="0">
                <a:solidFill>
                  <a:srgbClr val="F2F2EF"/>
                </a:solidFill>
              </a:rPr>
              <a:t>Produccion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DC6ED-9FAE-4CE7-B1E7-4483FCB2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861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PDFs faltantes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09224-B825-4346-B98D-A56C769A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D857A9-8CE8-410B-928C-21FCD97D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62250"/>
            <a:ext cx="1714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01F15-0819-4FED-ACD8-E9935261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622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9525">
            <a:solidFill>
              <a:srgbClr val="B91F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E65EB1-D60A-4EBC-A125-4DC242B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71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F2EF"/>
                </a:solidFill>
              </a:defRPr>
            </a:pPr>
            <a:r>
              <a:rPr sz="1500" b="1" i="0">
                <a:solidFill>
                  <a:srgbClr val="F2F2EF"/>
                </a:solidFill>
              </a:rPr>
              <a:t>Registro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856BF0-1FE6-49EF-B68B-2E0D45C1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861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runs + items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325014-316B-4E93-949B-C4142603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29150"/>
            <a:ext cx="6934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64213A-71A3-4B2B-A90C-BD38687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38700"/>
            <a:ext cx="640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C94C"/>
                </a:solidFill>
              </a:defRPr>
            </a:pPr>
            <a:r>
              <a:rPr sz="1800" b="1" i="0">
                <a:solidFill>
                  <a:srgbClr val="F2C94C"/>
                </a:solidFill>
              </a:rPr>
              <a:t>Regla operativa: validar primero; generar despues.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CABBCD-37EA-48B3-9583-5B55541F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F8794"/>
                </a:solidFill>
              </a:defRPr>
            </a:pPr>
            <a:r>
              <a:rPr sz="900" b="0" i="0">
                <a:solidFill>
                  <a:srgbClr val="7F8794"/>
                </a:solidFill>
              </a:rPr>
              <a:t>RMC Control System | RMCOp-Nike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F68BC9-98E1-4509-9062-EEABD776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7F8794"/>
                </a:solidFill>
              </a:defRPr>
            </a:pPr>
            <a:r>
              <a:rPr sz="1125" b="1" i="0">
                <a:solidFill>
                  <a:srgbClr val="7F879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9674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F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278A1E-1D7B-4851-9029-7349B0A9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EB4BF"/>
                </a:solidFill>
              </a:defRPr>
            </a:pPr>
            <a:r>
              <a:rPr sz="975" b="1" i="0">
                <a:solidFill>
                  <a:srgbClr val="AEB4BF"/>
                </a:solidFill>
              </a:rPr>
              <a:t>LECTURA DE EXCEL Y ROSTERS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8BBB9-CD67-4071-8B12-98DC2C77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F2EF"/>
                </a:solidFill>
              </a:defRPr>
            </a:pPr>
            <a:r>
              <a:rPr sz="2850" b="1" i="0">
                <a:solidFill>
                  <a:srgbClr val="F2F2EF"/>
                </a:solidFill>
              </a:rPr>
              <a:t>El parser detecta el formato por estructura, no solo por nombre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9E4D3-FCBF-4AFC-9495-919644D0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Personalizadas y Genericas comparten un modelo normalizado para operar igual despues.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63D5B-8D10-48FF-9E0E-F7A16E0B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DDC65-65D8-484D-9E1C-A3F45FD1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31408-1CB2-44C4-AEBF-206BE1A7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F35"/>
          </a:solidFill>
          <a:ln xmlns:a="http://schemas.openxmlformats.org/drawingml/2006/main" w="9525">
            <a:solidFill>
              <a:srgbClr val="B91F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96899-1E33-4ED5-8966-6C6E953B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Personalizadas / 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99A72-2587-42ED-A09E-D0F95C28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5E9FD-A1E0-4EB6-8D96-0DA008E4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2F2EF"/>
                </a:solidFill>
              </a:defRPr>
            </a:pPr>
            <a:r>
              <a:rPr sz="1350" b="0" i="0">
                <a:solidFill>
                  <a:srgbClr val="F2F2EF"/>
                </a:solidFill>
              </a:rPr>
              <a:t>Encabezados: WO, Ship Order, Style, Size, Qty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8E527-DF39-468A-9A34-E2FE3248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499E9-6D9B-4300-9315-A8269C94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2F2EF"/>
                </a:solidFill>
              </a:defRPr>
            </a:pPr>
            <a:r>
              <a:rPr sz="1350" b="0" i="0">
                <a:solidFill>
                  <a:srgbClr val="F2F2EF"/>
                </a:solidFill>
              </a:rPr>
              <a:t>Datos variables: nombre, numero, embarque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489F0-C0C3-4F4E-956F-473CCD7A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6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37152-5B74-4EB9-BBBE-D4E1C3AE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2F2EF"/>
                </a:solidFill>
              </a:defRPr>
            </a:pPr>
            <a:r>
              <a:rPr sz="1350" b="0" i="0">
                <a:solidFill>
                  <a:srgbClr val="F2F2EF"/>
                </a:solidFill>
              </a:rPr>
              <a:t>Destino elegido manualmente por el operador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80DAF-871E-4F3C-90E4-40A0F5E4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9530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0B957-E2DF-40C2-A8AF-209BA56C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41727"/>
          </a:solidFill>
          <a:ln xmlns:a="http://schemas.openxmlformats.org/drawingml/2006/main" w="9525">
            <a:solidFill>
              <a:srgbClr val="8417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7024F-08D5-4D76-BFA4-8EB177A7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527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Genericas / Roster detallado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E99C9-8BCD-429C-8200-8A88A1AA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43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47DBF-CC03-4A37-BB8A-21DA45AE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2F2EF"/>
                </a:solidFill>
              </a:defRPr>
            </a:pPr>
            <a:r>
              <a:rPr sz="1350" b="0" i="0">
                <a:solidFill>
                  <a:srgbClr val="F2F2EF"/>
                </a:solidFill>
              </a:rPr>
              <a:t>Requiere Style, Color, Qty, Size, Last Name y Player#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E27D5-3069-4C27-9C48-57CD445A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D01AA-E5DC-4C76-AB6D-136F1C2B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2F2EF"/>
                </a:solidFill>
              </a:defRPr>
            </a:pPr>
            <a:r>
              <a:rPr sz="1350" b="0" i="0">
                <a:solidFill>
                  <a:srgbClr val="F2F2EF"/>
                </a:solidFill>
              </a:rPr>
              <a:t>Roster sustituye WO cuando no existe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ABACA-ED61-4E82-AB38-E9EA67F6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6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E53D2-9C33-4167-9E1C-29FFC7ED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00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2F2EF"/>
                </a:solidFill>
              </a:defRPr>
            </a:pPr>
            <a:r>
              <a:rPr sz="1350" b="0" i="0">
                <a:solidFill>
                  <a:srgbClr val="F2F2EF"/>
                </a:solidFill>
              </a:rPr>
              <a:t>Destino automatico en la carpeta del Excel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3BE26B-4086-4AEF-BA88-1302BE3D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86400"/>
            <a:ext cx="861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C94C"/>
                </a:solidFill>
              </a:defRPr>
            </a:pPr>
            <a:r>
              <a:rPr sz="1500" b="1" i="0">
                <a:solidFill>
                  <a:srgbClr val="F2C94C"/>
                </a:solidFill>
              </a:rPr>
              <a:t>Listas resumen ST/IH/TB/AS no se procesan si no traen detalle por jugador y talla.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CEB392-FAF6-4A2E-BD3C-5F1BDEE9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F8794"/>
                </a:solidFill>
              </a:defRPr>
            </a:pPr>
            <a:r>
              <a:rPr sz="900" b="0" i="0">
                <a:solidFill>
                  <a:srgbClr val="7F8794"/>
                </a:solidFill>
              </a:rPr>
              <a:t>RMC Control System | RMCOp-Nike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2C92F-38B5-4F99-A564-EEF2B07F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7F8794"/>
                </a:solidFill>
              </a:defRPr>
            </a:pPr>
            <a:r>
              <a:rPr sz="1125" b="1" i="0">
                <a:solidFill>
                  <a:srgbClr val="7F879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3004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F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7EEDD9-617C-44DC-8E03-F6EE2E65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EB4BF"/>
                </a:solidFill>
              </a:defRPr>
            </a:pPr>
            <a:r>
              <a:rPr sz="975" b="1" i="0">
                <a:solidFill>
                  <a:srgbClr val="AEB4BF"/>
                </a:solidFill>
              </a:rPr>
              <a:t>DETECCION AUTOMATICA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79AA4-B787-44FA-AFA3-127B68F3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F2EF"/>
                </a:solidFill>
              </a:defRPr>
            </a:pPr>
            <a:r>
              <a:rPr sz="2850" b="1" i="0">
                <a:solidFill>
                  <a:srgbClr val="F2F2EF"/>
                </a:solidFill>
              </a:rPr>
              <a:t>La herramienta transforma filas de Excel en ordenes listas para plantilla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EBB5B-A541-4715-9E22-B61462D1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Extrae WO o Roster, Ship Order, style, equipo, variante, talla y piezas.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41575-E29D-451D-A0B9-0384F0C9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B8F00-BFBB-4294-9378-A57BB4A0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3B3D1-14E2-400D-BC17-08EC9E84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WO / Roster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1003C-16E8-4585-970B-29AE7FE8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identidad operativa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F93C8-CEA2-4949-8E8D-FAAA55E3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B208B-EF4B-4E6D-813E-EA81187E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Ship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B2728-C7DE-446E-A13E-01C48C8E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00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referencia de embarque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0DE52-E8B5-4D5A-9AB3-C4BBB6CA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1A794-74CA-4864-B97E-3715F780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Style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A2DFA-B1B4-4459-A414-5813A034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familia A/Y 1000 o 2000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FFC9B-C087-454A-920A-DA10DB85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09805-BE75-488A-AEB6-91BF8DE8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Equipo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85ACB-CCF3-4415-8F86-48F19EBD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0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desde Color o nombre de roster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9474D-2671-40FC-A791-3CC47636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72D8E-17E3-4B12-AB1B-1BE53004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Variante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D46C6-8A1C-472E-A2DF-B04BE8C8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Standard, IH o TB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56A1E-72C1-4E83-983E-A188282D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718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4CE5E-181A-4603-8DEB-75EC30B2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Talla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DD4BA-AE82-41DE-B741-AC9C116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XS a 3X normalizado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2D9E3-A169-426B-BE7B-F3C141F0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53638-046F-4A94-A005-59741208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Piezas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2F155-FAEE-42B2-B376-B0D429D3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Qty suma piezas; no multiplica PDFs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93567-97EC-4396-9E90-DD54351E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718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0363B5-A257-43EF-8484-857ADF28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623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Nombre / Numero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5BE4A3-C7E8-47BA-878E-4CCD8742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datos aplicados o limpiados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3B4AE-0DAC-402C-B871-94AEBFC5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529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1727"/>
          </a:solidFill>
          <a:ln xmlns:a="http://schemas.openxmlformats.org/drawingml/2006/main" w="9525">
            <a:solidFill>
              <a:srgbClr val="8417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3B675C-2F1B-466A-8482-7D1AFF35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F2EF"/>
                </a:solidFill>
              </a:defRPr>
            </a:pPr>
            <a:r>
              <a:rPr sz="1125" b="1" i="0">
                <a:solidFill>
                  <a:srgbClr val="F2F2EF"/>
                </a:solidFill>
              </a:rPr>
              <a:t>Variante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FA9457-4B5D-4FC5-BF7C-E9F50BB1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5295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1727"/>
          </a:solidFill>
          <a:ln xmlns:a="http://schemas.openxmlformats.org/drawingml/2006/main" w="9525">
            <a:solidFill>
              <a:srgbClr val="8417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2F197-E148-4D77-800A-AB1BE979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67250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F2EF"/>
                </a:solidFill>
              </a:defRPr>
            </a:pPr>
            <a:r>
              <a:rPr sz="1125" b="1" i="0">
                <a:solidFill>
                  <a:srgbClr val="F2F2EF"/>
                </a:solidFill>
              </a:rPr>
              <a:t>Regla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4FA92F-92C4-4E7C-9E71-B37E6DDE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911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43251-B50F-4EA2-B537-AFC77513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863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2F2EF"/>
                </a:solidFill>
              </a:defRPr>
            </a:pPr>
            <a:r>
              <a:rPr sz="1050" b="0" i="0">
                <a:solidFill>
                  <a:srgbClr val="F2F2EF"/>
                </a:solidFill>
              </a:rPr>
              <a:t>Standard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E63722-EC0F-4303-B067-0F1F08BD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9110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8C488B-7D6E-4E43-9E6A-0E15C5A7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86350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nombre y numero como texto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E80700-27EC-477A-91BE-62C8A346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292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3925E8-8EED-4C6B-B5C8-78D51BA6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24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2F2EF"/>
                </a:solidFill>
              </a:defRPr>
            </a:pPr>
            <a:r>
              <a:rPr sz="1050" b="0" i="0">
                <a:solidFill>
                  <a:srgbClr val="F2F2EF"/>
                </a:solidFill>
              </a:rPr>
              <a:t>Indigenous Heritage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EAC777-2FC6-4BC9-AFAE-000AF18B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42925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3B750E-CFCF-4041-8073-9119ACF9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24500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numero desde arte; gap 0.25in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E5AD4F-94E8-4096-818C-E9FEF07C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674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6D8337-6C34-402F-A91D-9D75133F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962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2F2EF"/>
                </a:solidFill>
              </a:defRPr>
            </a:pPr>
            <a:r>
              <a:rPr sz="1050" b="0" i="0">
                <a:solidFill>
                  <a:srgbClr val="F2F2EF"/>
                </a:solidFill>
              </a:rPr>
              <a:t>Throwback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E40593-1E3F-42BF-97FB-0292A076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67400"/>
            <a:ext cx="5219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C34974-3DF0-4B48-BB19-4E007613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62650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variante de texto TB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063992-A2F4-4867-9E9A-AB20FDC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F8794"/>
                </a:solidFill>
              </a:defRPr>
            </a:pPr>
            <a:r>
              <a:rPr sz="900" b="0" i="0">
                <a:solidFill>
                  <a:srgbClr val="7F8794"/>
                </a:solidFill>
              </a:rPr>
              <a:t>RMC Control System | RMCOp-Nike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9CB4BB-81DB-45C9-8A9E-024FD1FC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7F8794"/>
                </a:solidFill>
              </a:defRPr>
            </a:pPr>
            <a:r>
              <a:rPr sz="1125" b="1" i="0">
                <a:solidFill>
                  <a:srgbClr val="7F879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2073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F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7AFCD8-9CA8-4311-9858-740F2415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EB4BF"/>
                </a:solidFill>
              </a:defRPr>
            </a:pPr>
            <a:r>
              <a:rPr sz="975" b="1" i="0">
                <a:solidFill>
                  <a:srgbClr val="AEB4BF"/>
                </a:solidFill>
              </a:rPr>
              <a:t>GENERACION DE PDFS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D8CA8-10A9-441A-8B87-CC34AEAF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F2EF"/>
                </a:solidFill>
              </a:defRPr>
            </a:pPr>
            <a:r>
              <a:rPr sz="2850" b="1" i="0">
                <a:solidFill>
                  <a:srgbClr val="F2F2EF"/>
                </a:solidFill>
              </a:rPr>
              <a:t>El batch produce solo filas FALTANTE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FF3F8-A9C6-4642-AB4F-0CD49083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Los conflictos, duplicados o inconsistencias se quedan fuera hasta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78C60-B36E-45CA-B2DB-2855D0B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29B6B-4843-4759-AF36-8F328806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5429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A7E2F-965D-4057-AF3E-970A0DC9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45D15-0D8D-4B45-A69F-ABDCEF65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E0E49-A70A-43D2-AF6D-1E4CCB36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4287C-E4AE-4553-A18D-2C938EF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2FB35-992F-4F79-AE24-A5ECF648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90925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F2EF"/>
                </a:solidFill>
              </a:defRPr>
            </a:pPr>
            <a:r>
              <a:rPr sz="1500" b="1" i="0">
                <a:solidFill>
                  <a:srgbClr val="F2F2EF"/>
                </a:solidFill>
              </a:rPr>
              <a:t>[INSERTAR CAPTURA DE PANTALLA]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198B6-2B2B-403F-91AD-7295FE05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338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Vista Por lote con validacion incremental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11752-B184-4C49-BEDF-AC71B5FD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F8794"/>
                </a:solidFill>
              </a:defRPr>
            </a:pPr>
            <a:r>
              <a:rPr sz="1050" b="0" i="0">
                <a:solidFill>
                  <a:srgbClr val="7F8794"/>
                </a:solidFill>
              </a:rPr>
              <a:t>Captura sugerida: resumen de validas, errores, filtros y boton de procesar faltantes.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CD1DF-827D-4F3D-81BA-B25E1611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1727"/>
          </a:solidFill>
          <a:ln xmlns:a="http://schemas.openxmlformats.org/drawingml/2006/main" w="9525">
            <a:solidFill>
              <a:srgbClr val="8417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96069-6A5A-45F2-AF1C-429A7EFF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F2EF"/>
                </a:solidFill>
              </a:defRPr>
            </a:pPr>
            <a:r>
              <a:rPr sz="1125" b="1" i="0">
                <a:solidFill>
                  <a:srgbClr val="F2F2EF"/>
                </a:solidFill>
              </a:rPr>
              <a:t>Estado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76B56-0F8F-49F3-B914-9206B3BB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1727"/>
          </a:solidFill>
          <a:ln xmlns:a="http://schemas.openxmlformats.org/drawingml/2006/main" w="9525">
            <a:solidFill>
              <a:srgbClr val="8417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5EDBF-7A58-4DAF-BD59-AB21BD20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908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F2EF"/>
                </a:solidFill>
              </a:defRPr>
            </a:pPr>
            <a:r>
              <a:rPr sz="1125" b="1" i="0">
                <a:solidFill>
                  <a:srgbClr val="F2F2EF"/>
                </a:solidFill>
              </a:rPr>
              <a:t>Accion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095E4-7252-44AF-9ED8-EAF5C739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CFC0B-2019-4189-BCC6-45A8D715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2F2EF"/>
                </a:solidFill>
              </a:defRPr>
            </a:pPr>
            <a:r>
              <a:rPr sz="1050" b="0" i="0">
                <a:solidFill>
                  <a:srgbClr val="F2F2EF"/>
                </a:solidFill>
              </a:rPr>
              <a:t>FALTANTE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A6177-9B65-46B4-9FDC-C5DA8EC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146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9131F-27A1-4038-96E9-879C78A5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099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procesar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F4645-8AD9-4A04-8755-7FB3DEB8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7909D-3498-4B36-A67A-9F4A6A9B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48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2F2EF"/>
                </a:solidFill>
              </a:defRPr>
            </a:pPr>
            <a:r>
              <a:rPr sz="1050" b="0" i="0">
                <a:solidFill>
                  <a:srgbClr val="F2F2EF"/>
                </a:solidFill>
              </a:rPr>
              <a:t>YA_CREADO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1D0F9-1F67-4B2B-A746-A06208F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528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607056-F119-4CC6-86E1-B75BA679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48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no tocar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3457D-5C65-46E5-BE5C-E4EE4FF5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A17F1-0165-4A47-BF54-FBB22C4C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2F2EF"/>
                </a:solidFill>
              </a:defRPr>
            </a:pPr>
            <a:r>
              <a:rPr sz="1050" b="0" i="0">
                <a:solidFill>
                  <a:srgbClr val="F2F2EF"/>
                </a:solidFill>
              </a:rPr>
              <a:t>ARCHIVO_SIN_REGISTRO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7F6ACB-C7C7-40DD-9BB9-4F44E2F7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909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BBB326-430F-49EA-B982-6CFD05EA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86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revisar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16B3F-9FC6-4F92-AA37-39B91FA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291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A45F1-CDD7-4CD4-A2EA-20CFF5B1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2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2F2EF"/>
                </a:solidFill>
              </a:defRPr>
            </a:pPr>
            <a:r>
              <a:rPr sz="1050" b="0" i="0">
                <a:solidFill>
                  <a:srgbClr val="F2F2EF"/>
                </a:solidFill>
              </a:rPr>
              <a:t>REGISTRADO_SIN_ARCHIVO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C4FE6-97AF-4261-8245-62CADEE3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291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4F1A0C-4FE0-4213-9565-5257FFE5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24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revisar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1E3AB4-4606-40C2-B053-04E1F8A8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D8051A-6171-4A73-AEA0-6D55AAF7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62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2F2EF"/>
                </a:solidFill>
              </a:defRPr>
            </a:pPr>
            <a:r>
              <a:rPr sz="1050" b="0" i="0">
                <a:solidFill>
                  <a:srgbClr val="F2F2EF"/>
                </a:solidFill>
              </a:rPr>
              <a:t>CONFLICTO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E4AADB-C0A8-48AE-98AA-FFA0FD71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672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34394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3F3104-3211-45AC-8270-315C11C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625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bloquear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D5F369-4EFE-4FFC-BEA6-E1CF847B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57800"/>
            <a:ext cx="457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FE43A5-0FA8-41C0-8632-1FE59DDD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10200"/>
            <a:ext cx="407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2F2EF"/>
                </a:solidFill>
              </a:defRPr>
            </a:pPr>
            <a:r>
              <a:rPr sz="1275" b="1" i="0">
                <a:solidFill>
                  <a:srgbClr val="F2F2EF"/>
                </a:solidFill>
              </a:rPr>
              <a:t>Batch no crea nombres DUP ni (1). La salida debe ser unica y trazable.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6D4372-7638-4B73-A705-F09CC445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F8794"/>
                </a:solidFill>
              </a:defRPr>
            </a:pPr>
            <a:r>
              <a:rPr sz="900" b="0" i="0">
                <a:solidFill>
                  <a:srgbClr val="7F8794"/>
                </a:solidFill>
              </a:rPr>
              <a:t>RMC Control System | RMCOp-Nike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127529-0AE6-431B-8B81-4C169CB6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7F8794"/>
                </a:solidFill>
              </a:defRPr>
            </a:pPr>
            <a:r>
              <a:rPr sz="1125" b="1" i="0">
                <a:solidFill>
                  <a:srgbClr val="7F879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8307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F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30AF44-625A-41D0-B2B6-F54557A8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EB4BF"/>
                </a:solidFill>
              </a:defRPr>
            </a:pPr>
            <a:r>
              <a:rPr sz="975" b="1" i="0">
                <a:solidFill>
                  <a:srgbClr val="AEB4BF"/>
                </a:solidFill>
              </a:rPr>
              <a:t>REGISTRO EN SQLITE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C203D-394F-40AA-B532-E2241B09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F2EF"/>
                </a:solidFill>
              </a:defRPr>
            </a:pPr>
            <a:r>
              <a:rPr sz="2850" b="1" i="0">
                <a:solidFill>
                  <a:srgbClr val="F2F2EF"/>
                </a:solidFill>
              </a:rPr>
              <a:t>Cada ejecucion deja evidencia consultable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DFF20-B98F-4D23-9B89-2CA65710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RMCOp-Nike escribe en tablas propias dentro de la base compartida del RMC Control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C6B65-E971-4953-913A-A0C0778D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45237-2982-46FD-9D0F-5AB3756C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C241E-EE67-4941-919E-28EAEB22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C94C"/>
                </a:solidFill>
              </a:defRPr>
            </a:pPr>
            <a:r>
              <a:rPr sz="1800" b="1" i="0">
                <a:solidFill>
                  <a:srgbClr val="F2C94C"/>
                </a:solidFill>
              </a:rPr>
              <a:t>rmcop_nike_runs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42301-8D39-4AF9-BB63-E43C5EC1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EB4BF"/>
                </a:solidFill>
              </a:defRPr>
            </a:pPr>
            <a:r>
              <a:rPr sz="1275" b="0" i="0">
                <a:solidFill>
                  <a:srgbClr val="AEB4BF"/>
                </a:solidFill>
              </a:rPr>
              <a:t>Resumen de la ronda: herramienta, tiempos, Excel, destino, pedidos, piezas, OK y errores.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DE0CA-7A4C-4AB7-81AE-49AB6FEE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43300"/>
            <a:ext cx="838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AABE8-389E-4916-8DB1-48E750F8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9555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D29EC-6B0A-4B5F-A8C1-AB74DEE4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03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C94C"/>
                </a:solidFill>
              </a:defRPr>
            </a:pPr>
            <a:r>
              <a:rPr sz="1800" b="1" i="0">
                <a:solidFill>
                  <a:srgbClr val="F2C94C"/>
                </a:solidFill>
              </a:rPr>
              <a:t>rmcop_nike_items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CAEC8-DDD5-4936-AECF-6E9B5B02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95650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EB4BF"/>
                </a:solidFill>
              </a:defRPr>
            </a:pPr>
            <a:r>
              <a:rPr sz="1275" b="0" i="0">
                <a:solidFill>
                  <a:srgbClr val="AEB4BF"/>
                </a:solidFill>
              </a:rPr>
              <a:t>Detalle por fila/PDF: WO, roster, style, equipo, talla, nombre, numero, estado, path y clave.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EBA86-37BE-4BEB-8C58-7E861107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8382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31CA5-F723-4079-A331-D5AE4348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955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E6455-2F64-49A5-894F-D3468291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03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C94C"/>
                </a:solidFill>
              </a:defRPr>
            </a:pPr>
            <a:r>
              <a:rPr sz="1800" b="1" i="0">
                <a:solidFill>
                  <a:srgbClr val="F2C94C"/>
                </a:solidFill>
              </a:rPr>
              <a:t>Consulta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D169C-4647-4DFA-806F-F3FF5651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95650"/>
            <a:ext cx="1981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EB4BF"/>
                </a:solidFill>
              </a:defRPr>
            </a:pPr>
            <a:r>
              <a:rPr sz="1275" b="0" i="0">
                <a:solidFill>
                  <a:srgbClr val="AEB4BF"/>
                </a:solidFill>
              </a:rPr>
              <a:t>Base para RMC Control Center, reportes, metricas y control de duplicados.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EF93B-9C1A-473E-974D-185C47DF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19700"/>
            <a:ext cx="7924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9B0B1-D39A-4959-BDCC-C35A2F4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62575"/>
            <a:ext cx="746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F2EF"/>
                </a:solidFill>
              </a:defRPr>
            </a:pPr>
            <a:r>
              <a:rPr sz="1350" b="1" i="0">
                <a:solidFill>
                  <a:srgbClr val="F2F2EF"/>
                </a:solidFill>
              </a:rPr>
              <a:t>Clave: (WO o Roster) + Ship Order + Style + Team + Size + Nombre + Numero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7C1C0-26F0-4EAC-8458-C27086C6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F8794"/>
                </a:solidFill>
              </a:defRPr>
            </a:pPr>
            <a:r>
              <a:rPr sz="900" b="0" i="0">
                <a:solidFill>
                  <a:srgbClr val="7F8794"/>
                </a:solidFill>
              </a:rPr>
              <a:t>RMC Control System | RMCOp-Nike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A0ADB-47EB-44BA-86D0-4BAF77E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7F8794"/>
                </a:solidFill>
              </a:defRPr>
            </a:pPr>
            <a:r>
              <a:rPr sz="1125" b="1" i="0">
                <a:solidFill>
                  <a:srgbClr val="7F879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42625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F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8C480D-C936-4DF5-9743-4F43E487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EB4BF"/>
                </a:solidFill>
              </a:defRPr>
            </a:pPr>
            <a:r>
              <a:rPr sz="975" b="1" i="0">
                <a:solidFill>
                  <a:srgbClr val="AEB4BF"/>
                </a:solidFill>
              </a:rPr>
              <a:t>INTEGRACION CON RMC CONTROL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F85C7-44F7-4755-BA9B-1FC47F26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F2EF"/>
                </a:solidFill>
              </a:defRPr>
            </a:pPr>
            <a:r>
              <a:rPr sz="2850" b="1" i="0">
                <a:solidFill>
                  <a:srgbClr val="F2F2EF"/>
                </a:solidFill>
              </a:rPr>
              <a:t>RMCOp-Nike se conecta por datos, no mezclando productos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6D369-321D-4E55-B2CF-0F5A5430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Convive con Lansa, MockupTool y Control Center sin invadir sus responsabilidades.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32140-2499-492C-BE87-1D67F2AB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6B765-80B6-49C2-8D83-9B86F98F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FB849-E717-4AFE-B7F6-B5009C7E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F2EF"/>
                </a:solidFill>
              </a:defRPr>
            </a:pPr>
            <a:r>
              <a:rPr sz="1650" b="1" i="0">
                <a:solidFill>
                  <a:srgbClr val="F2F2EF"/>
                </a:solidFill>
              </a:rPr>
              <a:t>Lansa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1F9E6-FA74-4854-AEEE-858B665E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fuente oficial / consulta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301A2-C7D1-47CA-B63B-7CB8BB73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ECBAC-C35E-43C1-ABDE-A724E7CC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F2EF"/>
                </a:solidFill>
              </a:defRPr>
            </a:pPr>
            <a:r>
              <a:rPr sz="1650" b="1" i="0">
                <a:solidFill>
                  <a:srgbClr val="F2F2EF"/>
                </a:solidFill>
              </a:rPr>
              <a:t>Rosters / Excel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D9DE3-C047-4488-AC7D-B2F61ADD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entrada operativa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6C9EF-7A05-4F87-8896-1B09FC0D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4330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841727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6D4FA-70E9-4819-8825-F1E84DD7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F2EF"/>
                </a:solidFill>
              </a:defRPr>
            </a:pPr>
            <a:r>
              <a:rPr sz="1650" b="1" i="0">
                <a:solidFill>
                  <a:srgbClr val="F2F2EF"/>
                </a:solidFill>
              </a:rPr>
              <a:t>RMCOp-Nike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0C611-D855-4B6C-9614-3FB333C9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PDFs de produccion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6CE5E-AE8F-4896-84CD-BF5EE00F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86CD9-5C09-4BA6-8D17-95956C99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F2EF"/>
                </a:solidFill>
              </a:defRPr>
            </a:pPr>
            <a:r>
              <a:rPr sz="1650" b="1" i="0">
                <a:solidFill>
                  <a:srgbClr val="F2F2EF"/>
                </a:solidFill>
              </a:rPr>
              <a:t>SQLite RMC_CEP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FBD3D-BB11-4803-BF3D-CA0499BE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runs, items, claves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E4434-33E6-47E7-910E-DB7539A1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076A3-8FF8-4BBA-8D96-D4341D1E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33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F2EF"/>
                </a:solidFill>
              </a:defRPr>
            </a:pPr>
            <a:r>
              <a:rPr sz="1650" b="1" i="0">
                <a:solidFill>
                  <a:srgbClr val="F2F2EF"/>
                </a:solidFill>
              </a:rPr>
              <a:t>RMC MockupTool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749A8-371D-40A8-9189-1538D17C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76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CEP separado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6C87A-BF07-432A-A2FC-774FC0AA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911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8DFFF-458A-4ECB-9E99-8D785EB4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81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F2EF"/>
                </a:solidFill>
              </a:defRPr>
            </a:pPr>
            <a:r>
              <a:rPr sz="1650" b="1" i="0">
                <a:solidFill>
                  <a:srgbClr val="F2F2EF"/>
                </a:solidFill>
              </a:rPr>
              <a:t>RMC Control Center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8893EC-185A-48B3-863A-AF39138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24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consulta posterior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04783-E02F-4E7A-860B-96666592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09925"/>
            <a:ext cx="971550" cy="6191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D16AB-8B9B-452E-85B8-51623EE0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29175"/>
            <a:ext cx="971550" cy="-7334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9FD8A-E964-4A43-BA2D-C4715E6D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647700" cy="-704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F5415-7E24-45BA-92BE-DC339BD4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647700" cy="7429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D4C51B-E68B-4877-891E-A8EEE25C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76650"/>
            <a:ext cx="-3086100" cy="1714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F879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F25137-6096-48C0-B72B-88578299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613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C94C"/>
                </a:solidFill>
              </a:defRPr>
            </a:pPr>
            <a:r>
              <a:rPr sz="1350" b="1" i="0">
                <a:solidFill>
                  <a:srgbClr val="F2C94C"/>
                </a:solidFill>
              </a:rPr>
              <a:t>Frontera clave: MockupTool vive en otro CEP/repo y usa tablas propias.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9C2D7E-2006-4709-98C7-CB157FF4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F8794"/>
                </a:solidFill>
              </a:defRPr>
            </a:pPr>
            <a:r>
              <a:rPr sz="900" b="0" i="0">
                <a:solidFill>
                  <a:srgbClr val="7F8794"/>
                </a:solidFill>
              </a:rPr>
              <a:t>RMC Control System | RMCOp-Nike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20E8C-CC5A-4908-9C2A-88FD275C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7F8794"/>
                </a:solidFill>
              </a:defRPr>
            </a:pPr>
            <a:r>
              <a:rPr sz="1125" b="1" i="0">
                <a:solidFill>
                  <a:srgbClr val="7F879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5900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F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CD2B81-D6D9-4B22-BF0B-896874DC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EB4BF"/>
                </a:solidFill>
              </a:defRPr>
            </a:pPr>
            <a:r>
              <a:rPr sz="975" b="1" i="0">
                <a:solidFill>
                  <a:srgbClr val="AEB4BF"/>
                </a:solidFill>
              </a:rPr>
              <a:t>BENEFICIOS PRINCIPALES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136A9-722F-4921-9C74-037155EF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F2EF"/>
                </a:solidFill>
              </a:defRPr>
            </a:pPr>
            <a:r>
              <a:rPr sz="2850" b="1" i="0">
                <a:solidFill>
                  <a:srgbClr val="F2F2EF"/>
                </a:solidFill>
              </a:rPr>
              <a:t>La automatizacion mejora velocidad, control y seguimiento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2CE19-443A-4BAA-95F9-502E28CC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El valor aparece cuando produccion puede confiar en lo que falta, lo que ya existe y lo que quedo registrado.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4E6C8-457A-442E-B742-46F78BF8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0D160-3CCE-41E6-9C69-D4442ABD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7F8794"/>
                </a:solidFill>
              </a:defRPr>
            </a:pPr>
            <a:r>
              <a:rPr sz="4050" b="1" i="0">
                <a:solidFill>
                  <a:srgbClr val="7F8794"/>
                </a:solidFill>
              </a:rPr>
              <a:t>1.5 dias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743B7-AFC5-4A86-A1AF-8068E786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2C9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A571B-6AD0-4230-86D2-ACC88FA8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F2C94C"/>
                </a:solidFill>
              </a:defRPr>
            </a:pPr>
            <a:r>
              <a:rPr sz="4350" b="1" i="0">
                <a:solidFill>
                  <a:srgbClr val="F2C94C"/>
                </a:solidFill>
              </a:rPr>
              <a:t>minutos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A921F-86D9-4F69-B794-1F5505AF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242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cuando la informacion y plantillas estan listas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29D23-B1D8-4456-AA89-9F19AD8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2209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53E84-D083-46C5-BC8A-D79D5505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006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Produccion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C4037-CDE5-4405-A398-682F2460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435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procesa faltantes y evita duplicados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39FAD-DE2B-4CB9-B0E7-046B207E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91050"/>
            <a:ext cx="2209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29588-BAA4-4C5B-8A04-93D42786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006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Diseno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F751E-14BA-4DE1-B5F0-992F3D73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1435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usa reglas centralizadas de variantes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AB8EE-33FB-4F25-9E6B-AB61640D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2209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B3960-7D1D-4A7D-86BA-116419FB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006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Seguimiento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16B1C-EF16-4651-A638-4411474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435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consulta runs, items, estados y tiempos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73444-A5A4-4DFF-AD75-0170201C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91050"/>
            <a:ext cx="2209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45E45-4985-47D5-9FA5-E02EE562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006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F2EF"/>
                </a:solidFill>
              </a:defRPr>
            </a:pPr>
            <a:r>
              <a:rPr sz="1575" b="1" i="0">
                <a:solidFill>
                  <a:srgbClr val="F2F2EF"/>
                </a:solidFill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C9D9F-A203-462C-B8F5-94A41826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435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EB4BF"/>
                </a:solidFill>
              </a:defRPr>
            </a:pPr>
            <a:r>
              <a:rPr sz="1050" b="0" i="0">
                <a:solidFill>
                  <a:srgbClr val="AEB4BF"/>
                </a:solidFill>
              </a:rPr>
              <a:t>estandariza claves, rutas y nombres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E0E1A-D83B-4894-8BFB-3B1A501F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F8794"/>
                </a:solidFill>
              </a:defRPr>
            </a:pPr>
            <a:r>
              <a:rPr sz="900" b="0" i="0">
                <a:solidFill>
                  <a:srgbClr val="7F8794"/>
                </a:solidFill>
              </a:rPr>
              <a:t>RMC Control System | RMCOp-Nike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3300A-CAC7-4165-857E-47BA26C2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7F8794"/>
                </a:solidFill>
              </a:defRPr>
            </a:pPr>
            <a:r>
              <a:rPr sz="1125" b="1" i="0">
                <a:solidFill>
                  <a:srgbClr val="7F879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18609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F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4AF532-AB9A-478B-A4D8-9952F065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EB4BF"/>
                </a:solidFill>
              </a:defRPr>
            </a:pPr>
            <a:r>
              <a:rPr sz="975" b="1" i="0">
                <a:solidFill>
                  <a:srgbClr val="AEB4BF"/>
                </a:solidFill>
              </a:rPr>
              <a:t>SIGUIENTES MEJORAS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CC951-F625-4B12-8638-962033AC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F2EF"/>
                </a:solidFill>
              </a:defRPr>
            </a:pPr>
            <a:r>
              <a:rPr sz="2850" b="1" i="0">
                <a:solidFill>
                  <a:srgbClr val="F2F2EF"/>
                </a:solidFill>
              </a:rPr>
              <a:t>La base ya existe; las mejoras abiertas fortalecen operacion multiusuario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F5F3B-439F-4ACD-950D-1394A8B2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4BF"/>
                </a:solidFill>
              </a:defRPr>
            </a:pPr>
            <a:r>
              <a:rPr sz="1350" b="0" i="0">
                <a:solidFill>
                  <a:srgbClr val="AEB4BF"/>
                </a:solidFill>
              </a:rPr>
              <a:t>La ruta recomendada es validar lo actual, cerrar riesgos de trazabilidad y conectar consultas centrales.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BED31-FB3D-42C3-8366-95ECA202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03AEF-C397-43D7-9905-F14A2EC6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1123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91F35"/>
          </a:solidFill>
          <a:ln xmlns:a="http://schemas.openxmlformats.org/drawingml/2006/main" w="9525">
            <a:solidFill>
              <a:srgbClr val="B91F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43622-644D-47D8-AEAA-4FA067B2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2F2EF"/>
                </a:solidFill>
              </a:defRPr>
            </a:pPr>
            <a:r>
              <a:rPr sz="1050" b="1" i="0">
                <a:solidFill>
                  <a:srgbClr val="F2F2EF"/>
                </a:solidFill>
              </a:rPr>
              <a:t>Alta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9E20B-C7EF-4DC3-81E7-7E14FE47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62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2F2EF"/>
                </a:solidFill>
              </a:defRPr>
            </a:pPr>
            <a:r>
              <a:rPr sz="1650" b="0" i="0">
                <a:solidFill>
                  <a:srgbClr val="F2F2EF"/>
                </a:solidFill>
              </a:rPr>
              <a:t>Probar batch completo en Illustrator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EE14E-13AC-4442-A676-E93024EB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1123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91F35"/>
          </a:solidFill>
          <a:ln xmlns:a="http://schemas.openxmlformats.org/drawingml/2006/main" w="9525">
            <a:solidFill>
              <a:srgbClr val="B91F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DEB66-EE55-4D7F-BF27-08949E55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2F2EF"/>
                </a:solidFill>
              </a:defRPr>
            </a:pPr>
            <a:r>
              <a:rPr sz="1050" b="1" i="0">
                <a:solidFill>
                  <a:srgbClr val="F2F2EF"/>
                </a:solidFill>
              </a:rPr>
              <a:t>Alta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77D3F-16AB-4541-A615-CF226AF2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146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2F2EF"/>
                </a:solidFill>
              </a:defRPr>
            </a:pPr>
            <a:r>
              <a:rPr sz="1650" b="0" i="0">
                <a:solidFill>
                  <a:srgbClr val="F2F2EF"/>
                </a:solidFill>
              </a:rPr>
              <a:t>Resolver colision potencial de run_id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4E1D8-E02A-4823-B8DE-EDEC0847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1123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91F35"/>
          </a:solidFill>
          <a:ln xmlns:a="http://schemas.openxmlformats.org/drawingml/2006/main" w="9525">
            <a:solidFill>
              <a:srgbClr val="B91F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D2759-1660-446E-A291-5908E6BE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2F2EF"/>
                </a:solidFill>
              </a:defRPr>
            </a:pPr>
            <a:r>
              <a:rPr sz="1050" b="1" i="0">
                <a:solidFill>
                  <a:srgbClr val="F2F2EF"/>
                </a:solidFill>
              </a:rPr>
              <a:t>Alta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B0737-0C3B-4364-AD47-BEDC6C71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67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2F2EF"/>
                </a:solidFill>
              </a:defRPr>
            </a:pPr>
            <a:r>
              <a:rPr sz="1650" b="0" i="0">
                <a:solidFill>
                  <a:srgbClr val="F2F2EF"/>
                </a:solidFill>
              </a:rPr>
              <a:t>Guardar item por item durante el proceso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1F0FF-AF4A-4E7E-A4D8-65C19712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1123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38626-6FFB-4CA1-853E-3ED8C2E1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2F2EF"/>
                </a:solidFill>
              </a:defRPr>
            </a:pPr>
            <a:r>
              <a:rPr sz="1050" b="1" i="0">
                <a:solidFill>
                  <a:srgbClr val="F2F2EF"/>
                </a:solidFill>
              </a:rPr>
              <a:t>Media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47DF9-518E-4382-A6F7-35B5D87A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19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2F2EF"/>
                </a:solidFill>
              </a:defRPr>
            </a:pPr>
            <a:r>
              <a:rPr sz="1650" b="0" i="0">
                <a:solidFill>
                  <a:srgbClr val="F2F2EF"/>
                </a:solidFill>
              </a:rPr>
              <a:t>Mejorar performance de Por lote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CF565-B1CB-41EE-81C3-2F7CC53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1123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F62B9-DBE9-4EF8-B28F-076163E5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2F2EF"/>
                </a:solidFill>
              </a:defRPr>
            </a:pPr>
            <a:r>
              <a:rPr sz="1050" b="1" i="0">
                <a:solidFill>
                  <a:srgbClr val="F2F2EF"/>
                </a:solidFill>
              </a:rPr>
              <a:t>Media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94D27-5486-457F-91A2-C9ADB540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72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2F2EF"/>
                </a:solidFill>
              </a:defRPr>
            </a:pPr>
            <a:r>
              <a:rPr sz="1650" b="0" i="0">
                <a:solidFill>
                  <a:srgbClr val="F2F2EF"/>
                </a:solidFill>
              </a:rPr>
              <a:t>Exponer consulta desde RMC Control Center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84383-D8F9-40B3-B26B-A8065691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1123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252A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671CA-025C-4C46-AAB6-3B261BE4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2F2EF"/>
                </a:solidFill>
              </a:defRPr>
            </a:pPr>
            <a:r>
              <a:rPr sz="1050" b="1" i="0">
                <a:solidFill>
                  <a:srgbClr val="F2F2EF"/>
                </a:solidFill>
              </a:rPr>
              <a:t>Media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1650F-04D6-474E-8378-3114A462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24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2F2EF"/>
                </a:solidFill>
              </a:defRPr>
            </a:pPr>
            <a:r>
              <a:rPr sz="1650" b="0" i="0">
                <a:solidFill>
                  <a:srgbClr val="F2F2EF"/>
                </a:solidFill>
              </a:rPr>
              <a:t>Migrar catalogos de variantes a fuente compartida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E2FE6-1517-42ED-91D1-D1757A87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72050"/>
            <a:ext cx="3143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92B30"/>
          </a:solidFill>
          <a:ln xmlns:a="http://schemas.openxmlformats.org/drawingml/2006/main" w="9525">
            <a:solidFill>
              <a:srgbClr val="4449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DBCA5-BD8B-4C1B-9FFB-A8A5FBD2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625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C94C"/>
                </a:solidFill>
              </a:defRPr>
            </a:pPr>
            <a:r>
              <a:rPr sz="1500" b="1" i="0">
                <a:solidFill>
                  <a:srgbClr val="F2C94C"/>
                </a:solidFill>
              </a:rPr>
              <a:t>Cierre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37701-4589-47F8-B067-2E223A79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673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4BF"/>
                </a:solidFill>
              </a:defRPr>
            </a:pPr>
            <a:r>
              <a:rPr sz="1125" b="0" i="0">
                <a:solidFill>
                  <a:srgbClr val="AEB4BF"/>
                </a:solidFill>
              </a:rPr>
              <a:t>RMCOp-Nike convierte un proceso manual repetitivo en una generacion controlada, medible y consultable.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bda11f3044439"/>
          <a:stretch xmlns:a="http://schemas.openxmlformats.org/drawingml/2006/main"/>
        </p:blipFill>
        <p:spPr>
          <a:xfrm xmlns:a="http://schemas.openxmlformats.org/drawingml/2006/main">
            <a:off x="9715500" y="826103"/>
            <a:ext cx="1352550" cy="500444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7FEBE-B4ED-4EED-A763-6527CED5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F8794"/>
                </a:solidFill>
              </a:defRPr>
            </a:pPr>
            <a:r>
              <a:rPr sz="900" b="0" i="0">
                <a:solidFill>
                  <a:srgbClr val="7F8794"/>
                </a:solidFill>
              </a:rPr>
              <a:t>RMC Control System | RMCOp-Nike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1C08D0-83BD-48D5-AEF4-1D8C02C7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055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7F8794"/>
                </a:solidFill>
              </a:defRPr>
            </a:pPr>
            <a:r>
              <a:rPr sz="1125" b="1" i="0">
                <a:solidFill>
                  <a:srgbClr val="7F879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2685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2026-07-02T22:38:44.7190000Z</dcterms:created>
  <dcterms:modified xsi:type="dcterms:W3CDTF">2026-07-02T22:38:44.7190000Z</dcterms:modified>
</coreProperties>
</file>